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an" id="{172183f1-1618-20bb-9946-a5c2ec3734eb}">
          <p14:sldIdLst>
            <p14:sldId id="256"/>
            <p14:sldId id="257"/>
          </p14:sldIdLst>
        </p14:section>
        <p14:section name="Demo" id="{1a7831d5-7dd4-e4bd-d5fd-5842cb082066}">
          <p14:sldIdLst>
            <p14:sldId id="258"/>
          </p14:sldIdLst>
        </p14:section>
        <p14:section name="Implementasi teknis" id="{d008cea0-ea01-1beb-b629-c4ef0a7edd0d}">
          <p14:sldIdLst>
            <p14:sldId id="259"/>
            <p14:sldId id="260"/>
            <p14:sldId id="261"/>
          </p14:sldIdLst>
        </p14:section>
        <p14:section name="Bukti kualitas" id="{1ad5ba7f-c6d9-9f34-2c64-6e8bf0f69ad0}">
          <p14:sldIdLst>
            <p14:sldId id="262"/>
          </p14:sldIdLst>
        </p14:section>
        <p14:section name="Refleksi" id="{ea41e6ee-88bc-6b56-9f0e-aa49ec625c6a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 nama project, lalu langsung ke masalah yang diselesaikan. Jangan membaca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bagian ini dengan menyebut bahwa seluruh keputusan desain dikerjakan sendiri dan penggunaan AI tercatat di ai-usage-log.md. Sebut duluan, jangan menunggu ditanya.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menit. Sales buat + ajukan -&gt; tunjukkan TIDAK ADA tombol Setujui -&gt; Admin setujui -&gt; catat stok -&gt; Warehouse goods issue -&gt; stok berkurang + baris ledger. Kalau waktu mepet, buang uji stok tidak cukup.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menit. Telusuri satu alur dari Controller ke Repository di editor. Jangan membaca kode baris demi baris.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menit — BAGIAN PALING DINILAI, jangan buru-buru. Kalau ditanya "kenapa guard stok saja tidak cukup": stoknya bisa saja masih cukup karena itu jatah order lain, jadi dua request untuk SO yang sama lolos dua-duanya dan mengeluarkan stok dua 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detik saja. Buka compose.yaml sekilas. Kalau waktu mepet, ringkas jadi satu kalimat dan lanjut.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menit. Jalankan phpunit di terminal, lalu buka dashboard SonarQube. Tunjukkan SATU false positive: $summary di views/dashboard/index.php yang katanya tidak terpakai, padahal dipakai 13 kali. Kalau Quality Gate merah ditanya: itu mengukur coverage new code &gt;= 80%, ambang yang tidak ada di brief maupun panduan presentasi.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menit. Menyebut keterbatasan sendiri lebih dulu selalu lebih kuat daripada menunggu ditemukan asesor.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Biarkan slide ini terbuka selama sesi tanya jawab 10 menit.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9AB3C7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65A8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8580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3C7"/>
                </a:solidFill>
              </a:rPr>
              <a:t>Inventory &amp; Order Management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Inventory &amp; Order Management System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Final Project — Intermediate Programmer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B3C7"/>
                </a:solidFill>
              </a:rPr>
              <a:t>Rizki  ·  PT Neuronworks Indonesia  ·  Oktober 2026</a:t>
            </a:r>
            <a:endParaRPr lang="en-US" sz="1600" dirty="0"/>
          </a:p>
        </p:txBody>
      </p:sp>
      <p:sp>
        <p:nvSpPr>
          <p:cNvPr id="4" name="pill-MULTI-GUDANG · 3 PERAN"/>
          <p:cNvSpPr/>
          <p:nvPr/>
        </p:nvSpPr>
        <p:spPr>
          <a:xfrm>
            <a:off x="822960" y="1600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MULTI-GUDANG · 3 PERAN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Masalah yang diselesaikan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6213E"/>
                </a:solidFill>
              </a:rPr>
              <a:t>Stok di beberapa gudang harus selalu bisa dipertanggungjawabkan — termasuk saat dua proses berjalan bersamaan.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514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6D8C"/>
                </a:solidFill>
              </a:rPr>
              <a:t>Tiga peran dengan tanggung jawab sengaja dipisah, supaya tidak ada satu orang yang bisa membuat sekaligus menyetujui transaksi yang sama.</a:t>
            </a:r>
            <a:endParaRPr lang="en-US" sz="1400" dirty="0"/>
          </a:p>
        </p:txBody>
      </p:sp>
      <p:sp>
        <p:nvSpPr>
          <p:cNvPr id="5" name="role-Admin"/>
          <p:cNvSpPr/>
          <p:nvPr/>
        </p:nvSpPr>
        <p:spPr>
          <a:xfrm>
            <a:off x="6172200" y="13716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1490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Admin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8013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D8C"/>
                </a:solidFill>
              </a:rPr>
              <a:t>Master data, menyetujui Sales Order</a:t>
            </a:r>
            <a:endParaRPr lang="en-US" sz="1200" dirty="0"/>
          </a:p>
        </p:txBody>
      </p:sp>
      <p:sp>
        <p:nvSpPr>
          <p:cNvPr id="8" name="role-Sales"/>
          <p:cNvSpPr/>
          <p:nvPr/>
        </p:nvSpPr>
        <p:spPr>
          <a:xfrm>
            <a:off x="6172200" y="2395728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514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Sales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8254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D8C"/>
                </a:solidFill>
              </a:rPr>
              <a:t>Membuat order miliknya sendiri</a:t>
            </a:r>
            <a:endParaRPr lang="en-US" sz="1200" dirty="0"/>
          </a:p>
        </p:txBody>
      </p:sp>
      <p:sp>
        <p:nvSpPr>
          <p:cNvPr id="11" name="role-Warehouse Staff"/>
          <p:cNvSpPr/>
          <p:nvPr/>
        </p:nvSpPr>
        <p:spPr>
          <a:xfrm>
            <a:off x="6172200" y="3419856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3538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6D8C"/>
                </a:solidFill>
              </a:rPr>
              <a:t>Warehouse Staff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8496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D8C"/>
                </a:solidFill>
              </a:rPr>
              <a:t>Barang masuk dan barang keluar</a:t>
            </a:r>
            <a:endParaRPr lang="en-US" sz="1200" dirty="0"/>
          </a:p>
        </p:txBody>
      </p:sp>
      <p:sp>
        <p:nvSpPr>
          <p:cNvPr id="14" name="status-strip"/>
          <p:cNvSpPr/>
          <p:nvPr/>
        </p:nvSpPr>
        <p:spPr>
          <a:xfrm>
            <a:off x="685800" y="480060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6D8C"/>
                </a:solidFill>
              </a:rPr>
              <a:t>Status penyelesaian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2852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Seluruh alur inti selesai dan berfungsi  ·  192 test  ·  PHPStan level 6 nol error  ·  SonarQube rating 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Demo: Sales Order, Draft sampai Fulfilled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B3C7"/>
                </a:solidFill>
              </a:rPr>
              <a:t>Satu alur, tiga peran, stok yang benar-benar bergerak.</a:t>
            </a:r>
            <a:endParaRPr lang="en-US" sz="1600" dirty="0"/>
          </a:p>
        </p:txBody>
      </p:sp>
      <p:sp>
        <p:nvSpPr>
          <p:cNvPr id="4" name="pill-Draft"/>
          <p:cNvSpPr/>
          <p:nvPr/>
        </p:nvSpPr>
        <p:spPr>
          <a:xfrm>
            <a:off x="822960" y="1417320"/>
            <a:ext cx="845820" cy="384048"/>
          </a:xfrm>
          <a:prstGeom prst="roundRect">
            <a:avLst>
              <a:gd name="adj" fmla="val 50000"/>
            </a:avLst>
          </a:prstGeom>
          <a:solidFill>
            <a:srgbClr val="9AB3C7"/>
          </a:solidFill>
          <a:ln w="12700">
            <a:solidFill>
              <a:srgbClr val="9AB3C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Draft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68780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B3C7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pill-PendingApproval"/>
          <p:cNvSpPr/>
          <p:nvPr/>
        </p:nvSpPr>
        <p:spPr>
          <a:xfrm>
            <a:off x="2080260" y="1417320"/>
            <a:ext cx="18973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80260" y="1417320"/>
            <a:ext cx="1897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PendingApproval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B3C7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pill-Approved"/>
          <p:cNvSpPr/>
          <p:nvPr/>
        </p:nvSpPr>
        <p:spPr>
          <a:xfrm>
            <a:off x="4389120" y="141732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41732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550408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B3C7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pill-Fulfilled"/>
          <p:cNvSpPr/>
          <p:nvPr/>
        </p:nvSpPr>
        <p:spPr>
          <a:xfrm>
            <a:off x="5961888" y="1417320"/>
            <a:ext cx="1266444" cy="384048"/>
          </a:xfrm>
          <a:prstGeom prst="roundRect">
            <a:avLst>
              <a:gd name="adj" fmla="val 50000"/>
            </a:avLst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61888" y="1417320"/>
            <a:ext cx="126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Fulfilled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Empat lapis, satu arah dependency</a:t>
            </a:r>
            <a:endParaRPr lang="en-US" sz="3200" dirty="0"/>
          </a:p>
        </p:txBody>
      </p:sp>
      <p:sp>
        <p:nvSpPr>
          <p:cNvPr id="3" name="layer-Controller"/>
          <p:cNvSpPr/>
          <p:nvPr/>
        </p:nvSpPr>
        <p:spPr>
          <a:xfrm>
            <a:off x="685800" y="146304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6362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Controller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8836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Menerima HTTP, memeriksa hak akses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2311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B3C7"/>
                </a:solidFill>
              </a:rPr>
              <a:t>↓</a:t>
            </a:r>
            <a:endParaRPr lang="en-US" sz="1300" dirty="0"/>
          </a:p>
        </p:txBody>
      </p:sp>
      <p:sp>
        <p:nvSpPr>
          <p:cNvPr id="7" name="layer-Service"/>
          <p:cNvSpPr/>
          <p:nvPr/>
        </p:nvSpPr>
        <p:spPr>
          <a:xfrm>
            <a:off x="685800" y="2450592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55117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Service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8712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Aturan bisnis dan batas transaksi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2186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B3C7"/>
                </a:solidFill>
              </a:rPr>
              <a:t>↓</a:t>
            </a:r>
            <a:endParaRPr lang="en-US" sz="1300" dirty="0"/>
          </a:p>
        </p:txBody>
      </p:sp>
      <p:sp>
        <p:nvSpPr>
          <p:cNvPr id="11" name="layer-Repository"/>
          <p:cNvSpPr/>
          <p:nvPr/>
        </p:nvSpPr>
        <p:spPr>
          <a:xfrm>
            <a:off x="685800" y="3438144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4F6D8C"/>
          </a:solidFill>
          <a:ln w="12700">
            <a:solidFill>
              <a:srgbClr val="4F6D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53872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Repository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858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Akses data — selalu lewat interface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2062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B3C7"/>
                </a:solidFill>
              </a:rPr>
              <a:t>↓</a:t>
            </a:r>
            <a:endParaRPr lang="en-US" sz="1300" dirty="0"/>
          </a:p>
        </p:txBody>
      </p:sp>
      <p:sp>
        <p:nvSpPr>
          <p:cNvPr id="15" name="layer-Entity"/>
          <p:cNvSpPr/>
          <p:nvPr/>
        </p:nvSpPr>
        <p:spPr>
          <a:xfrm>
            <a:off x="685800" y="4425696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9AB3C7"/>
          </a:solidFill>
          <a:ln w="12700">
            <a:solidFill>
              <a:srgbClr val="9AB3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5262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Entity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846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E"/>
                </a:solidFill>
              </a:rPr>
              <a:t>Data murni, tanpa ketergantungan</a:t>
            </a:r>
            <a:endParaRPr lang="en-US" sz="1200" dirty="0"/>
          </a:p>
        </p:txBody>
      </p:sp>
      <p:sp>
        <p:nvSpPr>
          <p:cNvPr id="18" name="arch-note-1"/>
          <p:cNvSpPr/>
          <p:nvPr/>
        </p:nvSpPr>
        <p:spPr>
          <a:xfrm>
            <a:off x="7360920" y="146304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35240" y="166420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Dua implementasi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029968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13E"/>
                </a:solidFill>
              </a:rPr>
              <a:t>Tiap Repository adalah interface dengan dua implementasi: MySQL asli, dan in-memory yang dipakai unit test.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13E"/>
                </a:solidFill>
              </a:rPr>
              <a:t>Itu yang membuat 131 unit test bisa jalan tanpa database sama sekali.</a:t>
            </a:r>
            <a:endParaRPr lang="en-US" sz="1200" dirty="0"/>
          </a:p>
        </p:txBody>
      </p:sp>
      <p:sp>
        <p:nvSpPr>
          <p:cNvPr id="21" name="arch-note-2"/>
          <p:cNvSpPr/>
          <p:nvPr/>
        </p:nvSpPr>
        <p:spPr>
          <a:xfrm>
            <a:off x="7360920" y="37947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35240" y="397764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Yang dijaga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4343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13E"/>
                </a:solidFill>
              </a:rPr>
              <a:t>Service tidak pernah menyentuh $_POST atau session. Controller tidak pernah menyentuh PDO.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Mencegah oversell</a:t>
            </a:r>
            <a:endParaRPr lang="en-US" sz="3200" dirty="0"/>
          </a:p>
        </p:txBody>
      </p:sp>
      <p:sp>
        <p:nvSpPr>
          <p:cNvPr id="3" name="sql-block"/>
          <p:cNvSpPr/>
          <p:nvPr/>
        </p:nvSpPr>
        <p:spPr>
          <a:xfrm>
            <a:off x="685800" y="137160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36192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product_stock SET quantity = quantity - :qty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product_id = :pid AND warehouse_id = :wid AND quantity &gt;= :qty</a:t>
            </a:r>
            <a:endParaRPr lang="en-US" sz="1300" dirty="0"/>
          </a:p>
        </p:txBody>
      </p:sp>
      <p:sp>
        <p:nvSpPr>
          <p:cNvPr id="5" name="arch02-a"/>
          <p:cNvSpPr/>
          <p:nvPr/>
        </p:nvSpPr>
        <p:spPr>
          <a:xfrm>
            <a:off x="685800" y="283464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01752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Satu statement, bukan dua langkah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383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13E"/>
                </a:solidFill>
              </a:rPr>
              <a:t>Cek stok dan pengurangannya digabung. Dua goods issue bersamaan tidak bisa dua-duanya lolos — InnoDB mengunci barisnya.</a:t>
            </a:r>
            <a:endParaRPr lang="en-US" sz="1200" dirty="0"/>
          </a:p>
        </p:txBody>
      </p:sp>
      <p:sp>
        <p:nvSpPr>
          <p:cNvPr id="8" name="arch02-b"/>
          <p:cNvSpPr/>
          <p:nvPr/>
        </p:nvSpPr>
        <p:spPr>
          <a:xfrm>
            <a:off x="6172200" y="283464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301752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433A"/>
                </a:solidFill>
              </a:rPr>
              <a:t>Tapi itu belum cukup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3383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13E"/>
                </a:solidFill>
              </a:rPr>
              <a:t>Guard itu menjaga baris stok — bukan order-nya. Ditemukan saat audit: satu SO masih bisa dipenuhi dua kali.</a:t>
            </a:r>
            <a:endParaRPr lang="en-US" sz="1200" dirty="0"/>
          </a:p>
        </p:txBody>
      </p:sp>
      <p:sp>
        <p:nvSpPr>
          <p:cNvPr id="11" name="arch02-fix"/>
          <p:cNvSpPr/>
          <p:nvPr/>
        </p:nvSpPr>
        <p:spPr>
          <a:xfrm>
            <a:off x="685800" y="448056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663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Perbaikannya: transisi status ikut dibuat bersyarat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04748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</a:rPr>
              <a:t>Status asal ikut di klausa WHERE, dan hasilnya diperiksa. Goods issue mengklaim SO sebagai statement pertama transaksi, jadi request kedua tidak menemukan apa pun untuk diklaim.  →  ADR-0007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Menjalankan dan mengamankan</a:t>
            </a:r>
            <a:endParaRPr lang="en-US" sz="3200" dirty="0"/>
          </a:p>
        </p:txBody>
      </p:sp>
      <p:sp>
        <p:nvSpPr>
          <p:cNvPr id="3" name="col-0"/>
          <p:cNvSpPr/>
          <p:nvPr/>
        </p:nvSpPr>
        <p:spPr>
          <a:xfrm>
            <a:off x="685800" y="141732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4592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Docker Compose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21408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Dua service: aplikasi PHP dan MySQL 8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Healthcheck — app baru start setelah database benar-benar siap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Konfigurasi lewat environment variable, .env tidak pernah masuk repo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Seed schema dijalankan otomatis dari kondisi kosong</a:t>
            </a:r>
            <a:endParaRPr lang="en-US" sz="1300" dirty="0"/>
          </a:p>
        </p:txBody>
      </p:sp>
      <p:sp>
        <p:nvSpPr>
          <p:cNvPr id="6" name="col-1"/>
          <p:cNvSpPr/>
          <p:nvPr/>
        </p:nvSpPr>
        <p:spPr>
          <a:xfrm>
            <a:off x="6217920" y="141732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Keamanan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21408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Password di-hash, diverifikasi dengan password_verify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Semua query pakai prepared statement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CSRF diperiksa terpusat di Router, bukan diulang tiap Controller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Session divalidasi ulang ke database tiap request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Bukti kualitas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685800" y="14173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</a:rPr>
              <a:t>192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871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F6D8C"/>
                </a:solidFill>
              </a:rPr>
              <a:t>test lulus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F6D8C"/>
                </a:solidFill>
              </a:rPr>
              <a:t>131 unit · 61 integration</a:t>
            </a:r>
            <a:endParaRPr lang="en-US" sz="1150" dirty="0"/>
          </a:p>
        </p:txBody>
      </p:sp>
      <p:sp>
        <p:nvSpPr>
          <p:cNvPr id="6" name="stat-1"/>
          <p:cNvSpPr/>
          <p:nvPr/>
        </p:nvSpPr>
        <p:spPr>
          <a:xfrm>
            <a:off x="3447288" y="14173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47288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9E63"/>
                </a:solidFill>
              </a:rPr>
              <a:t>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630168" y="24871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F6D8C"/>
                </a:solidFill>
              </a:rPr>
              <a:t>bug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F6D8C"/>
                </a:solidFill>
              </a:rPr>
              <a:t>SonarQube</a:t>
            </a:r>
            <a:endParaRPr lang="en-US" sz="1150" dirty="0"/>
          </a:p>
        </p:txBody>
      </p:sp>
      <p:sp>
        <p:nvSpPr>
          <p:cNvPr id="9" name="stat-2"/>
          <p:cNvSpPr/>
          <p:nvPr/>
        </p:nvSpPr>
        <p:spPr>
          <a:xfrm>
            <a:off x="6208776" y="14173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08776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9E63"/>
                </a:solidFill>
              </a:rPr>
              <a:t>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391656" y="24871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F6D8C"/>
                </a:solidFill>
              </a:rPr>
              <a:t>vulnerability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F6D8C"/>
                </a:solidFill>
              </a:rPr>
              <a:t>SonarQube</a:t>
            </a:r>
            <a:endParaRPr lang="en-US" sz="1150" dirty="0"/>
          </a:p>
        </p:txBody>
      </p:sp>
      <p:sp>
        <p:nvSpPr>
          <p:cNvPr id="12" name="stat-3"/>
          <p:cNvSpPr/>
          <p:nvPr/>
        </p:nvSpPr>
        <p:spPr>
          <a:xfrm>
            <a:off x="8970264" y="14173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70264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</a:rPr>
              <a:t>A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153144" y="24871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F6D8C"/>
                </a:solidFill>
              </a:rPr>
              <a:t>reliability · security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F6D8C"/>
                </a:solidFill>
              </a:rPr>
              <a:t>maintainability</a:t>
            </a:r>
            <a:endParaRPr lang="en-US" sz="1150" dirty="0"/>
          </a:p>
        </p:txBody>
      </p:sp>
      <p:sp>
        <p:nvSpPr>
          <p:cNvPr id="15" name="sonar-journey"/>
          <p:cNvSpPr/>
          <p:nvPr/>
        </p:nvSpPr>
        <p:spPr>
          <a:xfrm>
            <a:off x="685800" y="3611880"/>
            <a:ext cx="1078992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8221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Dari 240 temuan SonarQube menjadi 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31596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</a:rPr>
              <a:t>112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673352" y="44074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B3C7"/>
                </a:solidFill>
              </a:rPr>
              <a:t>diperbaiki di kode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1596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</a:rPr>
              <a:t>126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193792" y="44074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B3C7"/>
                </a:solidFill>
              </a:rPr>
              <a:t>false positive, dengan bukti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431596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</a:rPr>
              <a:t>2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8714232" y="44074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B3C7"/>
                </a:solidFill>
              </a:rPr>
              <a:t>diterima, dengan alasan tertulis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120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Setiap temuan dibaca satu per satu — bukan ditutup massal.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Refleksi</a:t>
            </a:r>
            <a:endParaRPr lang="en-US" sz="3200" dirty="0"/>
          </a:p>
        </p:txBody>
      </p:sp>
      <p:sp>
        <p:nvSpPr>
          <p:cNvPr id="3" name="refl-0"/>
          <p:cNvSpPr/>
          <p:nvPr/>
        </p:nvSpPr>
        <p:spPr>
          <a:xfrm>
            <a:off x="685800" y="15087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78408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33A"/>
                </a:solidFill>
              </a:rPr>
              <a:t>Kendala utama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78408" y="2212848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13E"/>
                </a:solidFill>
              </a:rPr>
              <a:t>Memastikan stok tidak bisa oversell. Solusinya satu statement atomik — dan saat audit, ternyata itu belum menjaga ordernya.</a:t>
            </a:r>
            <a:endParaRPr lang="en-US" sz="1250" dirty="0"/>
          </a:p>
        </p:txBody>
      </p:sp>
      <p:sp>
        <p:nvSpPr>
          <p:cNvPr id="6" name="refl-1"/>
          <p:cNvSpPr/>
          <p:nvPr/>
        </p:nvSpPr>
        <p:spPr>
          <a:xfrm>
            <a:off x="4370832" y="15087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</a:rPr>
              <a:t>Keterbatasan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212848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13E"/>
                </a:solidFill>
              </a:rPr>
              <a:t>Supplier dan Customer masih berbagi struktur yang sama persis. Coverage Controller masih rendah karena belum ada controller test.</a:t>
            </a:r>
            <a:endParaRPr lang="en-US" sz="1250" dirty="0"/>
          </a:p>
        </p:txBody>
      </p:sp>
      <p:sp>
        <p:nvSpPr>
          <p:cNvPr id="9" name="refl-2"/>
          <p:cNvSpPr/>
          <p:nvPr/>
        </p:nvSpPr>
        <p:spPr>
          <a:xfrm>
            <a:off x="8055864" y="15087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48472" y="1737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3"/>
                </a:solidFill>
              </a:rPr>
              <a:t>Prioritas berikutnya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48472" y="2212848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13E"/>
                </a:solidFill>
              </a:rPr>
              <a:t>Menambah test di lapisan Controller, lalu memisahkan Supplier dan Customer begitu keduanya benar-benar berbeda.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663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6D8C"/>
                </a:solidFill>
              </a:rPr>
              <a:t>Keterbatasan ini dicatat jujur di docs/quality/tech-debt.md — 20 entri, lengkap dengan alasan dan perbaikan idealnya.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Terima kasih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github.com/rayrizki/inventory-order-management-system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B3C7"/>
                </a:solidFill>
              </a:rPr>
              <a:t>Tag v1.0.2  ·  Siap untuk pertanyaan</a:t>
            </a:r>
            <a:endParaRPr lang="en-US" sz="1600" dirty="0"/>
          </a:p>
        </p:txBody>
      </p:sp>
      <p:sp>
        <p:nvSpPr>
          <p:cNvPr id="4" name="pill-SIAP DEMO ULANG"/>
          <p:cNvSpPr/>
          <p:nvPr/>
        </p:nvSpPr>
        <p:spPr>
          <a:xfrm>
            <a:off x="822960" y="1600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SIAP DEMO ULANG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M Stok">
  <a:themeElements>
    <a:clrScheme name="IOM Stok">
      <a:dk1>
        <a:srgbClr val="16213E"/>
      </a:dk1>
      <a:lt1>
        <a:srgbClr val="FFFFFF"/>
      </a:lt1>
      <a:dk2>
        <a:srgbClr val="065A82"/>
      </a:dk2>
      <a:lt2>
        <a:srgbClr val="EEF3F7"/>
      </a:lt2>
      <a:accent1>
        <a:srgbClr val="1C7293"/>
      </a:accent1>
      <a:accent2>
        <a:srgbClr val="E8A33D"/>
      </a:accent2>
      <a:accent3>
        <a:srgbClr val="2E9E63"/>
      </a:accent3>
      <a:accent4>
        <a:srgbClr val="C0433A"/>
      </a:accent4>
      <a:accent5>
        <a:srgbClr val="4F6D8C"/>
      </a:accent5>
      <a:accent6>
        <a:srgbClr val="9AB3C7"/>
      </a:accent6>
      <a:hlink>
        <a:srgbClr val="1C7293"/>
      </a:hlink>
      <a:folHlink>
        <a:srgbClr val="4F6D8C"/>
      </a:folHlink>
    </a:clrScheme>
    <a:fontScheme name="IOM St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&amp; Order Management System</dc:title>
  <dc:subject>PptxGenJS Presentation</dc:subject>
  <dc:creator>Rizki</dc:creator>
  <cp:lastModifiedBy>Rizki</cp:lastModifiedBy>
  <cp:revision>1</cp:revision>
  <dcterms:created xsi:type="dcterms:W3CDTF">2026-10-04T14:19:13Z</dcterms:created>
  <dcterms:modified xsi:type="dcterms:W3CDTF">2026-10-04T14:19:13Z</dcterms:modified>
</cp:coreProperties>
</file>